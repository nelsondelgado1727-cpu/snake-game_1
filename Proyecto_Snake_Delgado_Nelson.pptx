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nelsondelgado1727-cpu/Snake-game_1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2120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" y="52120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97BC62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52120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97BC62"/>
          </a:solidFill>
          <a:ln/>
        </p:spPr>
      </p:sp>
      <p:sp>
        <p:nvSpPr>
          <p:cNvPr id="5" name="Shape 3"/>
          <p:cNvSpPr/>
          <p:nvPr/>
        </p:nvSpPr>
        <p:spPr>
          <a:xfrm>
            <a:off x="1783080" y="52120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97BC62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0" y="52120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97BC62"/>
          </a:solidFill>
          <a:ln/>
        </p:spPr>
      </p:sp>
      <p:sp>
        <p:nvSpPr>
          <p:cNvPr id="7" name="Shape 5"/>
          <p:cNvSpPr/>
          <p:nvPr/>
        </p:nvSpPr>
        <p:spPr>
          <a:xfrm>
            <a:off x="2194560" y="48006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97BC62"/>
          </a:solidFill>
          <a:ln/>
        </p:spPr>
      </p:sp>
      <p:sp>
        <p:nvSpPr>
          <p:cNvPr id="8" name="Shape 6"/>
          <p:cNvSpPr/>
          <p:nvPr/>
        </p:nvSpPr>
        <p:spPr>
          <a:xfrm>
            <a:off x="2194560" y="438912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0E84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16459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Juego de la Serpiente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94360" y="25146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i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(Snake)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12648" y="342900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impacto de las nuevas tecnologías en la sociedad: desarrollo 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 de soluciones informáticas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12648" y="5989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Delgado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" y="63093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 ·  Asignatura de Programación  ·  2026</a:t>
            </a:r>
            <a:endParaRPr lang="en-US" sz="1100" dirty="0"/>
          </a:p>
        </p:txBody>
      </p:sp>
      <p:pic>
        <p:nvPicPr>
          <p:cNvPr id="15" name="Image 0" descr="icon_gamep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512064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 y problema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6035040" cy="4754880"/>
          </a:xfrm>
          <a:prstGeom prst="roundRect">
            <a:avLst>
              <a:gd name="adj" fmla="val 1538"/>
            </a:avLst>
          </a:prstGeom>
          <a:solidFill>
            <a:srgbClr val="F1F6EC"/>
          </a:solidFill>
          <a:ln/>
          <a:effectLst>
            <a:outerShdw sx="100000" sy="100000" kx="0" ky="0" algn="bl" rotWithShape="0" blurRad="101600" dist="38100" dir="2700000">
              <a:srgbClr val="1F3D1F">
                <a:alpha val="18000"/>
              </a:srgbClr>
            </a:outerShdw>
          </a:effectLst>
        </p:spPr>
      </p:sp>
      <p:pic>
        <p:nvPicPr>
          <p:cNvPr id="4" name="Image 0" descr="icon_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6916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6916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problema resolvemos?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60120" y="2377440"/>
            <a:ext cx="53949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nuevas tecnologías transforman la manera en que las personas interactúan, trabajan y resuelven problemas. Este proyecto analiza ese impacto desarrollando una solución informática real: un juego interactivo que aplica reglas claras, control de entradas del usuario y manejo de distintos estados de la partida.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949440" y="1371600"/>
            <a:ext cx="4572000" cy="4754880"/>
          </a:xfrm>
          <a:prstGeom prst="roundRect">
            <a:avLst>
              <a:gd name="adj" fmla="val 1600"/>
            </a:avLst>
          </a:prstGeom>
          <a:solidFill>
            <a:srgbClr val="1F3D1F"/>
          </a:solidFill>
          <a:ln/>
          <a:effectLst>
            <a:outerShdw sx="100000" sy="100000" kx="0" ky="0" algn="bl" rotWithShape="0" blurRad="101600" dist="38100" dir="2700000">
              <a:srgbClr val="1F3D1F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269480" y="1691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¿Por qué Snake?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269480" y="2286000"/>
            <a:ext cx="39319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simples, fáciles de explicar y de evaluar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aplicar condicionales y ciclos con claridad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dividir en módulos independientes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35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visual e interactivo, fácil de demostrar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Propósito del proyecto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1993392" cy="3383280"/>
          </a:xfrm>
          <a:prstGeom prst="roundRect">
            <a:avLst>
              <a:gd name="adj" fmla="val 3670"/>
            </a:avLst>
          </a:prstGeom>
          <a:solidFill>
            <a:srgbClr val="F1F6EC"/>
          </a:solidFill>
          <a:ln/>
          <a:effectLst>
            <a:outerShdw sx="100000" sy="100000" kx="0" ky="0" algn="bl" rotWithShape="0" blurRad="101600" dist="38100" dir="2700000">
              <a:srgbClr val="1F3D1F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271016" y="20574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icon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5608" y="222199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49808" y="30175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Analizar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4672" y="3429000"/>
            <a:ext cx="16642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impacto de las nuevas tecnologías en la sociedad.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862072" y="1737360"/>
            <a:ext cx="1993392" cy="3383280"/>
          </a:xfrm>
          <a:prstGeom prst="roundRect">
            <a:avLst>
              <a:gd name="adj" fmla="val 3670"/>
            </a:avLst>
          </a:prstGeom>
          <a:solidFill>
            <a:srgbClr val="F1F6EC"/>
          </a:solidFill>
          <a:ln/>
          <a:effectLst>
            <a:outerShdw sx="100000" sy="100000" kx="0" ky="0" algn="bl" rotWithShape="0" blurRad="101600" dist="38100" dir="2700000">
              <a:srgbClr val="1F3D1F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93008" y="20574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0" name="Image 1" descr="icon_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22199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71800" y="30175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Aplicar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026664" y="3429000"/>
            <a:ext cx="16642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conocimientos de diseño, programación y arquitectura de software.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084064" y="1737360"/>
            <a:ext cx="1993392" cy="3383280"/>
          </a:xfrm>
          <a:prstGeom prst="roundRect">
            <a:avLst>
              <a:gd name="adj" fmla="val 3670"/>
            </a:avLst>
          </a:prstGeom>
          <a:solidFill>
            <a:srgbClr val="F1F6EC"/>
          </a:solidFill>
          <a:ln/>
          <a:effectLst>
            <a:outerShdw sx="100000" sy="100000" kx="0" ky="0" algn="bl" rotWithShape="0" blurRad="101600" dist="38100" dir="2700000">
              <a:srgbClr val="1F3D1F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715000" y="20574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2" descr="icon_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222199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93792" y="30175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Desarrollar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5248656" y="3429000"/>
            <a:ext cx="16642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funcional basado en una problemática definida.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7306056" y="1737360"/>
            <a:ext cx="1993392" cy="3383280"/>
          </a:xfrm>
          <a:prstGeom prst="roundRect">
            <a:avLst>
              <a:gd name="adj" fmla="val 3670"/>
            </a:avLst>
          </a:prstGeom>
          <a:solidFill>
            <a:srgbClr val="F1F6EC"/>
          </a:solidFill>
          <a:ln/>
          <a:effectLst>
            <a:outerShdw sx="100000" sy="100000" kx="0" ky="0" algn="bl" rotWithShape="0" blurRad="101600" dist="38100" dir="2700000">
              <a:srgbClr val="1F3D1F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936992" y="20574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0" name="Image 3" descr="icon_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222199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15784" y="30175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Integrar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7470648" y="3429000"/>
            <a:ext cx="16642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contenidos de las cuatro unidades de la asignatura.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9528048" y="1737360"/>
            <a:ext cx="1993392" cy="3383280"/>
          </a:xfrm>
          <a:prstGeom prst="roundRect">
            <a:avLst>
              <a:gd name="adj" fmla="val 3670"/>
            </a:avLst>
          </a:prstGeom>
          <a:solidFill>
            <a:srgbClr val="F1F6EC"/>
          </a:solidFill>
          <a:ln/>
          <a:effectLst>
            <a:outerShdw sx="100000" sy="100000" kx="0" ky="0" algn="bl" rotWithShape="0" blurRad="101600" dist="38100" dir="2700000">
              <a:srgbClr val="1F3D1F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0158984" y="2057400"/>
            <a:ext cx="731520" cy="73152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5" name="Image 4" descr="icon_bul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3576" y="222199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37776" y="301752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Reflexionar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9692640" y="3429000"/>
            <a:ext cx="166420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el uso y futuro de la tecnología en el entorno real.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del sistema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se organiza en tres capas: presentación, lógica y almacenamiento, separando responsabilidades para facilitar su mantenimiento.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4206240" cy="1051560"/>
          </a:xfrm>
          <a:prstGeom prst="roundRect">
            <a:avLst>
              <a:gd name="adj" fmla="val 6087"/>
            </a:avLst>
          </a:prstGeom>
          <a:solidFill>
            <a:srgbClr val="F1F6E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Presentación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318211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gráfica y control de entrada del teclado.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977640"/>
            <a:ext cx="4206240" cy="1051560"/>
          </a:xfrm>
          <a:prstGeom prst="roundRect">
            <a:avLst>
              <a:gd name="adj" fmla="val 6087"/>
            </a:avLst>
          </a:prstGeom>
          <a:solidFill>
            <a:srgbClr val="F1F6EC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0507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Lógica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4165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del juego, serpiente, comida, colisiones y puntaje.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5212080"/>
            <a:ext cx="4206240" cy="1051560"/>
          </a:xfrm>
          <a:prstGeom prst="roundRect">
            <a:avLst>
              <a:gd name="adj" fmla="val 6087"/>
            </a:avLst>
          </a:prstGeom>
          <a:solidFill>
            <a:srgbClr val="F1F6E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52852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Almacenamiento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565099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memoria: segmentos, posición de comida y puntaje.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166360" y="1005840"/>
            <a:ext cx="6400800" cy="5440680"/>
          </a:xfrm>
          <a:prstGeom prst="roundRect">
            <a:avLst>
              <a:gd name="adj" fmla="val 1345"/>
            </a:avLst>
          </a:prstGeom>
          <a:solidFill>
            <a:srgbClr val="FFFFFF"/>
          </a:solidFill>
          <a:ln w="12700">
            <a:solidFill>
              <a:srgbClr val="DCE7CF"/>
            </a:solidFill>
            <a:prstDash val="solid"/>
          </a:ln>
          <a:effectLst>
            <a:outerShdw sx="100000" sy="100000" kx="0" ky="0" algn="bl" rotWithShape="0" blurRad="101600" dist="38100" dir="2700000">
              <a:srgbClr val="1F3D1F">
                <a:alpha val="18000"/>
              </a:srgbClr>
            </a:outerShdw>
          </a:effectLst>
        </p:spPr>
      </p:sp>
      <p:pic>
        <p:nvPicPr>
          <p:cNvPr id="14" name="Image 0" descr="arquitectur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49240" y="1188720"/>
            <a:ext cx="6035040" cy="43891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349240" y="56692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arquitectura UML — Juego de la Serpiente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flujo del juego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principal controla el inicio, el movimiento, la detección de colisiones y el fin de la partida.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7818120" y="914400"/>
            <a:ext cx="3703320" cy="5577840"/>
          </a:xfrm>
          <a:prstGeom prst="roundRect">
            <a:avLst>
              <a:gd name="adj" fmla="val 1975"/>
            </a:avLst>
          </a:prstGeom>
          <a:solidFill>
            <a:srgbClr val="FFFFFF"/>
          </a:solidFill>
          <a:ln w="12700">
            <a:solidFill>
              <a:srgbClr val="DCE7CF"/>
            </a:solidFill>
            <a:prstDash val="solid"/>
          </a:ln>
          <a:effectLst>
            <a:outerShdw sx="100000" sy="100000" kx="0" ky="0" algn="bl" rotWithShape="0" blurRad="101600" dist="38100" dir="2700000">
              <a:srgbClr val="1F3D1F">
                <a:alpha val="18000"/>
              </a:srgbClr>
            </a:outerShdw>
          </a:effectLst>
        </p:spPr>
      </p:sp>
      <p:pic>
        <p:nvPicPr>
          <p:cNvPr id="5" name="Image 0" descr="fluj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55280" y="1051560"/>
            <a:ext cx="3429000" cy="5303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783080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25880" y="17373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Inicio y menú principal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325880" y="2075688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 el tablero, la serpiente y la comida.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862072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25880" y="2816352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Captura de entrada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325880" y="31546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lee la flecha presionada y se valida la dirección.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3941064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3941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25880" y="3895344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Movimiento y verificación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325880" y="4233672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serpiente se mueve; se revisa colisión o comida.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5020056"/>
            <a:ext cx="502920" cy="50292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9" name="Text 16"/>
          <p:cNvSpPr/>
          <p:nvPr/>
        </p:nvSpPr>
        <p:spPr>
          <a:xfrm>
            <a:off x="640080" y="50200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325880" y="4974336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 o reinicio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325880" y="5312664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choca, termina; el jugador puede reiniciar con ENTER.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Módulos del sistema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2514600" cy="1965960"/>
          </a:xfrm>
          <a:prstGeom prst="roundRect">
            <a:avLst>
              <a:gd name="adj" fmla="val 3256"/>
            </a:avLst>
          </a:prstGeom>
          <a:solidFill>
            <a:srgbClr val="F1F6EC"/>
          </a:solidFill>
          <a:ln/>
          <a:effectLst>
            <a:outerShdw sx="100000" sy="100000" kx="0" ky="0" algn="bl" rotWithShape="0" blurRad="101600" dist="38100" dir="2700000">
              <a:srgbClr val="1F3D1F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22960" y="16002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5" name="Image 0" descr="icon_gamep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700784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213055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Interfaz Gráfica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804672" y="2496312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el tablero, la serpiente, la comida y los mensajes.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429000" y="1417320"/>
            <a:ext cx="2514600" cy="1965960"/>
          </a:xfrm>
          <a:prstGeom prst="roundRect">
            <a:avLst>
              <a:gd name="adj" fmla="val 3256"/>
            </a:avLst>
          </a:prstGeom>
          <a:solidFill>
            <a:srgbClr val="F1F6EC"/>
          </a:solidFill>
          <a:ln/>
          <a:effectLst>
            <a:outerShdw sx="100000" sy="100000" kx="0" ky="0" algn="bl" rotWithShape="0" blurRad="101600" dist="38100" dir="2700000">
              <a:srgbClr val="1F3D1F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11880" y="16002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0" name="Image 1" descr="icon_key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170078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93592" y="213055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Entrada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593592" y="2496312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el teclado y valida la dirección del movimiento.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217920" y="1417320"/>
            <a:ext cx="2514600" cy="1965960"/>
          </a:xfrm>
          <a:prstGeom prst="roundRect">
            <a:avLst>
              <a:gd name="adj" fmla="val 3256"/>
            </a:avLst>
          </a:prstGeom>
          <a:solidFill>
            <a:srgbClr val="F1F6EC"/>
          </a:solidFill>
          <a:ln/>
          <a:effectLst>
            <a:outerShdw sx="100000" sy="100000" kx="0" ky="0" algn="bl" rotWithShape="0" blurRad="101600" dist="38100" dir="2700000">
              <a:srgbClr val="1F3D1F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0" y="16002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15" name="Image 2" descr="icon_diagra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384" y="170078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82512" y="213055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Controlador del Juego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382512" y="2496312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Inicia, actualiza y coordina todos los módulos.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9006840" y="1417320"/>
            <a:ext cx="2514600" cy="1965960"/>
          </a:xfrm>
          <a:prstGeom prst="roundRect">
            <a:avLst>
              <a:gd name="adj" fmla="val 3256"/>
            </a:avLst>
          </a:prstGeom>
          <a:solidFill>
            <a:srgbClr val="F1F6EC"/>
          </a:solidFill>
          <a:ln/>
          <a:effectLst>
            <a:outerShdw sx="100000" sy="100000" kx="0" ky="0" algn="bl" rotWithShape="0" blurRad="101600" dist="38100" dir="2700000">
              <a:srgbClr val="1F3D1F">
                <a:alpha val="18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189720" y="160020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0" name="Image 3" descr="icon_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4" y="170078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71432" y="213055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Serpiente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9171432" y="2496312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los segmentos, mueve y hace crecer a la serpiente.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40080" y="3657600"/>
            <a:ext cx="2514600" cy="1965960"/>
          </a:xfrm>
          <a:prstGeom prst="roundRect">
            <a:avLst>
              <a:gd name="adj" fmla="val 3256"/>
            </a:avLst>
          </a:prstGeom>
          <a:solidFill>
            <a:srgbClr val="F1F6EC"/>
          </a:solidFill>
          <a:ln/>
          <a:effectLst>
            <a:outerShdw sx="100000" sy="100000" kx="0" ky="0" algn="bl" rotWithShape="0" blurRad="101600" dist="38100" dir="2700000">
              <a:srgbClr val="1F3D1F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22960" y="38404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25" name="Image 4" descr="icon_foo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3941064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04672" y="437083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Comida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804672" y="4736592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y valida la posición aleatoria de la comida.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3429000" y="3657600"/>
            <a:ext cx="2514600" cy="1965960"/>
          </a:xfrm>
          <a:prstGeom prst="roundRect">
            <a:avLst>
              <a:gd name="adj" fmla="val 3256"/>
            </a:avLst>
          </a:prstGeom>
          <a:solidFill>
            <a:srgbClr val="F1F6EC"/>
          </a:solidFill>
          <a:ln/>
          <a:effectLst>
            <a:outerShdw sx="100000" sy="100000" kx="0" ky="0" algn="bl" rotWithShape="0" blurRad="101600" dist="38100" dir="2700000">
              <a:srgbClr val="1F3D1F">
                <a:alpha val="1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3611880" y="38404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0" name="Image 5" descr="icon_collisi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2464" y="3941064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593592" y="437083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Colisiones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3593592" y="4736592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choques con la pared o el propio cuerpo.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6217920" y="3657600"/>
            <a:ext cx="2514600" cy="1965960"/>
          </a:xfrm>
          <a:prstGeom prst="roundRect">
            <a:avLst>
              <a:gd name="adj" fmla="val 3256"/>
            </a:avLst>
          </a:prstGeom>
          <a:solidFill>
            <a:srgbClr val="F1F6EC"/>
          </a:solidFill>
          <a:ln/>
          <a:effectLst>
            <a:outerShdw sx="100000" sy="100000" kx="0" ky="0" algn="bl" rotWithShape="0" blurRad="101600" dist="38100" dir="2700000">
              <a:srgbClr val="1F3D1F">
                <a:alpha val="18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400800" y="38404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5" name="Image 6" descr="icon_scor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1384" y="3941064"/>
            <a:ext cx="256032" cy="25603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382512" y="437083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Puntaje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6382512" y="4736592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y actualiza el puntaje del jugador.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9006840" y="3657600"/>
            <a:ext cx="2514600" cy="1965960"/>
          </a:xfrm>
          <a:prstGeom prst="roundRect">
            <a:avLst>
              <a:gd name="adj" fmla="val 3256"/>
            </a:avLst>
          </a:prstGeom>
          <a:solidFill>
            <a:srgbClr val="F1F6EC"/>
          </a:solidFill>
          <a:ln/>
          <a:effectLst>
            <a:outerShdw sx="100000" sy="100000" kx="0" ky="0" algn="bl" rotWithShape="0" blurRad="101600" dist="38100" dir="2700000">
              <a:srgbClr val="1F3D1F">
                <a:alpha val="18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9189720" y="3840480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40" name="Image 7" descr="icon_github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0304" y="3941064"/>
            <a:ext cx="256032" cy="256032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171432" y="4370832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de Versiones</a:t>
            </a:r>
            <a:endParaRPr lang="en-US" sz="1250" dirty="0"/>
          </a:p>
        </p:txBody>
      </p:sp>
      <p:sp>
        <p:nvSpPr>
          <p:cNvPr id="42" name="Text 32"/>
          <p:cNvSpPr/>
          <p:nvPr/>
        </p:nvSpPr>
        <p:spPr>
          <a:xfrm>
            <a:off x="9171432" y="4736592"/>
            <a:ext cx="21854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1E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en GitHub para todo el código del proyecto.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3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Tecnologías utilizadas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2103120"/>
            <a:ext cx="3291840" cy="3246120"/>
          </a:xfrm>
          <a:prstGeom prst="roundRect">
            <a:avLst>
              <a:gd name="adj" fmla="val 2535"/>
            </a:avLst>
          </a:prstGeom>
          <a:solidFill>
            <a:srgbClr val="274D27"/>
          </a:solidFill>
          <a:ln/>
          <a:effectLst>
            <a:outerShdw sx="100000" sy="100000" kx="0" ky="0" algn="bl" rotWithShape="0" blurRad="101600" dist="38100" dir="2700000">
              <a:srgbClr val="1F3D1F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103120" y="242316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5" name="Image 0" descr="icon_pyth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712" y="25877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43000" y="38862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de programación utilizado para construir toda la lógica del juego.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34840" y="2103120"/>
            <a:ext cx="3291840" cy="3246120"/>
          </a:xfrm>
          <a:prstGeom prst="roundRect">
            <a:avLst>
              <a:gd name="adj" fmla="val 2535"/>
            </a:avLst>
          </a:prstGeom>
          <a:solidFill>
            <a:srgbClr val="274D27"/>
          </a:solidFill>
          <a:ln/>
          <a:effectLst>
            <a:outerShdw sx="100000" sy="100000" kx="0" ky="0" algn="bl" rotWithShape="0" blurRad="101600" dist="38100" dir="2700000">
              <a:srgbClr val="1F3D1F">
                <a:alpha val="1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715000" y="242316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0" name="Image 1" descr="icon_gamep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2" y="258775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17720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Tkinter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754880" y="38862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Librería incluida en Python para crear la interfaz gráfica del juego.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046720" y="2103120"/>
            <a:ext cx="3291840" cy="3246120"/>
          </a:xfrm>
          <a:prstGeom prst="roundRect">
            <a:avLst>
              <a:gd name="adj" fmla="val 2535"/>
            </a:avLst>
          </a:prstGeom>
          <a:solidFill>
            <a:srgbClr val="274D27"/>
          </a:solidFill>
          <a:ln/>
          <a:effectLst>
            <a:outerShdw sx="100000" sy="100000" kx="0" ky="0" algn="bl" rotWithShape="0" blurRad="101600" dist="38100" dir="2700000">
              <a:srgbClr val="1F3D1F">
                <a:alpha val="1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326880" y="242316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5" name="Image 2" descr="icon_githu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1472" y="258775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9600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366760" y="38862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E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para el control de versiones del código y los diagramas.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D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Reflexión final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Incluso una aplicación sencilla como un videojuego requiere análisis, diseño y programación estructurada para funcionar correctamente.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69748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263347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el sistema en módulos facilita su mantenimiento y escalabilidad.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56616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350215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demuestra la importancia del trabajo colaborativo en tecnología.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434840"/>
            <a:ext cx="384048" cy="384048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3D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437083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5E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tecnología transforma cómo la sociedad interactúa con la información.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680960" y="1463040"/>
            <a:ext cx="3840480" cy="4389120"/>
          </a:xfrm>
          <a:prstGeom prst="roundRect">
            <a:avLst>
              <a:gd name="adj" fmla="val 2143"/>
            </a:avLst>
          </a:prstGeom>
          <a:solidFill>
            <a:srgbClr val="274D27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0" y="23774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F5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¡Gracias!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7863840" y="3200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Repositorio del proyecto</a:t>
            </a:r>
            <a:endParaRPr lang="en-US" sz="1200" dirty="0"/>
          </a:p>
        </p:txBody>
      </p:sp>
      <p:sp>
        <p:nvSpPr>
          <p:cNvPr id="16" name="Text 14">
            <a:hlinkClick r:id="rId1" tooltip=""/>
          </p:cNvPr>
          <p:cNvSpPr/>
          <p:nvPr/>
        </p:nvSpPr>
        <p:spPr>
          <a:xfrm>
            <a:off x="7863840" y="35204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github.com/nelsondelgado1727-cpu/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u="sng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Snake-game_1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Juego de la Serpiente - Proyecto Integrador</dc:title>
  <dc:subject>PptxGenJS Presentation</dc:subject>
  <dc:creator>Nelson Delgado</dc:creator>
  <cp:lastModifiedBy>Nelson Delgado</cp:lastModifiedBy>
  <cp:revision>1</cp:revision>
  <dcterms:created xsi:type="dcterms:W3CDTF">2026-06-29T02:31:12Z</dcterms:created>
  <dcterms:modified xsi:type="dcterms:W3CDTF">2026-06-29T02:31:12Z</dcterms:modified>
</cp:coreProperties>
</file>